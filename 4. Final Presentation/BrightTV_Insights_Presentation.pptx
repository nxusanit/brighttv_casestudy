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B3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B325"/>
                </a:solidFill>
                <a:latin typeface="Arial"/>
              </a:rPr>
              <a:t>CASE STUDY  •  Q1 2016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Arial"/>
              </a:rPr>
              <a:t>BrightTV Viewership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E6B325"/>
                </a:solidFill>
                <a:latin typeface="Arial"/>
              </a:rPr>
              <a:t>Insights &amp; 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4F1ED"/>
                </a:solidFill>
                <a:latin typeface="Arial"/>
              </a:rPr>
              <a:t>A data-driven look at audience, channels, and growth opportunities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303520"/>
            <a:ext cx="2286000" cy="25400"/>
          </a:xfrm>
          <a:prstGeom prst="rect">
            <a:avLst/>
          </a:prstGeom>
          <a:solidFill>
            <a:srgbClr val="E6B3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440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Prepared for the Executive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4F1ED"/>
                </a:solidFill>
                <a:latin typeface="Arial"/>
              </a:rPr>
              <a:t>Data window: 2016-01-01 – 2016-03-31  •  10,000 viewing sessions analyzed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Arial"/>
              </a:rPr>
              <a:t>BrightTV Analytics  • 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Arial"/>
              </a:rPr>
              <a:t>2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B325"/>
                </a:solidFill>
                <a:latin typeface="Arial"/>
              </a:rPr>
              <a:t>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9552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B2545"/>
                </a:solidFill>
                <a:latin typeface="Arial"/>
              </a:rPr>
              <a:t>What we will cover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6B325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554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2545"/>
                </a:solidFill>
                <a:latin typeface="Arial"/>
              </a:rPr>
              <a:t>Executive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874519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Arial"/>
              </a:rPr>
              <a:t>Headline numbers and key 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6B325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1945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2545"/>
                </a:solidFill>
                <a:latin typeface="Arial"/>
              </a:rPr>
              <a:t>Methodology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514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Arial"/>
              </a:rPr>
              <a:t>Data sources, scope, and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34639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6B325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83463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2545"/>
                </a:solidFill>
                <a:latin typeface="Arial"/>
              </a:rPr>
              <a:t>Audience 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54679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Arial"/>
              </a:rPr>
              <a:t>Who is watching BrightTV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7472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6B325"/>
                </a:solidFill>
                <a:latin typeface="Arial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474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2545"/>
                </a:solidFill>
                <a:latin typeface="Arial"/>
              </a:rPr>
              <a:t>When People Watch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794759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Arial"/>
              </a:rPr>
              <a:t>Time-of-day, weekday, and monthly patterns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11480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6B325"/>
                </a:solidFill>
                <a:latin typeface="Arial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114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2545"/>
                </a:solidFill>
                <a:latin typeface="Arial"/>
              </a:rPr>
              <a:t>Channel 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4348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Arial"/>
              </a:rPr>
              <a:t>Top performers and underperformers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548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6B325"/>
                </a:solidFill>
                <a:latin typeface="Arial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54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2545"/>
                </a:solidFill>
                <a:latin typeface="Arial"/>
              </a:rPr>
              <a:t>Recommendations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074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Arial"/>
              </a:rPr>
              <a:t>Strategic actions to grow viewership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39496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6B325"/>
                </a:solidFill>
                <a:latin typeface="Arial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394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2545"/>
                </a:solidFill>
                <a:latin typeface="Arial"/>
              </a:rPr>
              <a:t>Next Steps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7150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Arial"/>
              </a:rPr>
              <a:t>Roadmap for execution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Arial"/>
              </a:rPr>
              <a:t>BrightTV Analytics  •  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Arial"/>
              </a:rPr>
              <a:t>3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B325"/>
                </a:solidFill>
                <a:latin typeface="Arial"/>
              </a:rPr>
              <a:t>01  •  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9552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B2545"/>
                </a:solidFill>
                <a:latin typeface="Arial"/>
              </a:rPr>
              <a:t>The story in one slide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2636443" cy="1280160"/>
          </a:xfrm>
          <a:prstGeom prst="roundRect">
            <a:avLst>
              <a:gd name="adj" fmla="val 8000"/>
            </a:avLst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91440" cy="12801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236212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Arial"/>
              </a:rPr>
              <a:t>10,000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31720"/>
            <a:ext cx="23621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B1B"/>
                </a:solidFill>
                <a:latin typeface="Arial"/>
              </a:rPr>
              <a:t>Viewing sessions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7963" y="1554480"/>
            <a:ext cx="2636443" cy="1280160"/>
          </a:xfrm>
          <a:prstGeom prst="roundRect">
            <a:avLst>
              <a:gd name="adj" fmla="val 8000"/>
            </a:avLst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7963" y="1554480"/>
            <a:ext cx="91440" cy="12801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6563" y="1691640"/>
            <a:ext cx="236212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A9D8F"/>
                </a:solidFill>
                <a:latin typeface="Arial"/>
              </a:rPr>
              <a:t>4,386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6563" y="2331720"/>
            <a:ext cx="23621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B1B"/>
                </a:solidFill>
                <a:latin typeface="Arial"/>
              </a:rPr>
              <a:t>Unique viewers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7287" y="1554480"/>
            <a:ext cx="2636443" cy="1280160"/>
          </a:xfrm>
          <a:prstGeom prst="roundRect">
            <a:avLst>
              <a:gd name="adj" fmla="val 8000"/>
            </a:avLst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7287" y="1554480"/>
            <a:ext cx="91440" cy="1280160"/>
          </a:xfrm>
          <a:prstGeom prst="rect">
            <a:avLst/>
          </a:prstGeom>
          <a:solidFill>
            <a:srgbClr val="E6B3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5887" y="1691640"/>
            <a:ext cx="236212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6B325"/>
                </a:solidFill>
                <a:latin typeface="Arial"/>
              </a:rPr>
              <a:t>1,523.1h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2331720"/>
            <a:ext cx="23621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B1B"/>
                </a:solidFill>
                <a:latin typeface="Arial"/>
              </a:rPr>
              <a:t>Total watch 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611" y="1554480"/>
            <a:ext cx="2636443" cy="1280160"/>
          </a:xfrm>
          <a:prstGeom prst="roundRect">
            <a:avLst>
              <a:gd name="adj" fmla="val 8000"/>
            </a:avLst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06611" y="1554480"/>
            <a:ext cx="91440" cy="12801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211" y="1691640"/>
            <a:ext cx="236212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76F51"/>
                </a:solidFill>
                <a:latin typeface="Arial"/>
              </a:rPr>
              <a:t>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211" y="2331720"/>
            <a:ext cx="23621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B1B"/>
                </a:solidFill>
                <a:latin typeface="Arial"/>
              </a:rPr>
              <a:t>Channels tracked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200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B325"/>
                </a:solidFill>
                <a:latin typeface="Arial"/>
              </a:rPr>
              <a:t>KEY TAKEAWAYS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3639312"/>
            <a:ext cx="109728" cy="109728"/>
          </a:xfrm>
          <a:prstGeom prst="ellipse">
            <a:avLst/>
          </a:prstGeom>
          <a:solidFill>
            <a:srgbClr val="E6B3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52044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B1B1B"/>
                </a:solidFill>
                <a:latin typeface="Arial"/>
              </a:rPr>
              <a:t>Sport dominates — Supersport Live Events + ICC Cricket = 31% of all views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" y="4142232"/>
            <a:ext cx="109728" cy="109728"/>
          </a:xfrm>
          <a:prstGeom prst="ellipse">
            <a:avLst/>
          </a:prstGeom>
          <a:solidFill>
            <a:srgbClr val="E6B3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02336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B1B1B"/>
                </a:solidFill>
                <a:latin typeface="Arial"/>
              </a:rPr>
              <a:t>Audience grew 119% from January (2,203) to March (4,821) — strong momentum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" y="4645152"/>
            <a:ext cx="109728" cy="109728"/>
          </a:xfrm>
          <a:prstGeom prst="ellipse">
            <a:avLst/>
          </a:prstGeom>
          <a:solidFill>
            <a:srgbClr val="E6B3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52628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B1B1B"/>
                </a:solidFill>
                <a:latin typeface="Arial"/>
              </a:rPr>
              <a:t>Skewed audience: 90% male, 41.5% aged 25-34, 38% from Gauteng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" y="5148072"/>
            <a:ext cx="109728" cy="109728"/>
          </a:xfrm>
          <a:prstGeom prst="ellipse">
            <a:avLst/>
          </a:prstGeom>
          <a:solidFill>
            <a:srgbClr val="E6B3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02920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B1B1B"/>
                </a:solidFill>
                <a:latin typeface="Arial"/>
              </a:rPr>
              <a:t>Mornings (5-12) lead viewing (3,383 views) — not the assumed evening slot</a:t>
            </a:r>
          </a:p>
        </p:txBody>
      </p:sp>
      <p:sp>
        <p:nvSpPr>
          <p:cNvPr id="33" name="Oval 32"/>
          <p:cNvSpPr/>
          <p:nvPr/>
        </p:nvSpPr>
        <p:spPr>
          <a:xfrm>
            <a:off x="640080" y="5650992"/>
            <a:ext cx="109728" cy="109728"/>
          </a:xfrm>
          <a:prstGeom prst="ellipse">
            <a:avLst/>
          </a:prstGeom>
          <a:solidFill>
            <a:srgbClr val="E6B3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53212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B1B1B"/>
                </a:solidFill>
                <a:latin typeface="Arial"/>
              </a:rPr>
              <a:t>10 channels capture ~85% of views; 8 channels barely register (&lt;120 views each)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Arial"/>
              </a:rPr>
              <a:t>BrightTV Analytics  • 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Arial"/>
              </a:rPr>
              <a:t>4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B325"/>
                </a:solidFill>
                <a:latin typeface="Arial"/>
              </a:rPr>
              <a:t>02  •  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9552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B2545"/>
                </a:solidFill>
                <a:latin typeface="Arial"/>
              </a:rPr>
              <a:t>How we approached the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2602153" cy="3017520"/>
          </a:xfrm>
          <a:prstGeom prst="roundRect">
            <a:avLst>
              <a:gd name="adj" fmla="val 8000"/>
            </a:avLst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83956" y="2011679"/>
            <a:ext cx="731520" cy="73152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83956" y="210312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E6B325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80360"/>
            <a:ext cx="260215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B2545"/>
                </a:solidFill>
                <a:latin typeface="Arial"/>
              </a:rPr>
              <a:t>COLLECT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91839"/>
            <a:ext cx="2144953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B1B1B"/>
                </a:solidFill>
                <a:latin typeface="Arial"/>
              </a:rPr>
              <a:t>Two source files:</a:t>
            </a:r>
          </a:p>
          <a:p>
            <a:pPr algn="ctr"/>
            <a:r>
              <a:rPr sz="1100" b="0">
                <a:solidFill>
                  <a:srgbClr val="1B1B1B"/>
                </a:solidFill>
                <a:latin typeface="Arial"/>
              </a:rPr>
              <a:t>Viewership log (10K rows)</a:t>
            </a:r>
          </a:p>
          <a:p>
            <a:pPr algn="ctr"/>
            <a:r>
              <a:rPr sz="1100" b="0">
                <a:solidFill>
                  <a:srgbClr val="1B1B1B"/>
                </a:solidFill>
                <a:latin typeface="Arial"/>
              </a:rPr>
              <a:t>User profiles (5,375 rows)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79393" y="1737360"/>
            <a:ext cx="2602153" cy="3017520"/>
          </a:xfrm>
          <a:prstGeom prst="roundRect">
            <a:avLst>
              <a:gd name="adj" fmla="val 8000"/>
            </a:avLst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14709" y="2011679"/>
            <a:ext cx="731520" cy="73152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4709" y="210312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E6B325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9393" y="2880360"/>
            <a:ext cx="260215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B2545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7993" y="3291839"/>
            <a:ext cx="2144953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B1B1B"/>
                </a:solidFill>
                <a:latin typeface="Arial"/>
              </a:rPr>
              <a:t>Joined on UserID</a:t>
            </a:r>
          </a:p>
          <a:p>
            <a:pPr algn="ctr"/>
            <a:r>
              <a:rPr sz="1100" b="0">
                <a:solidFill>
                  <a:srgbClr val="1B1B1B"/>
                </a:solidFill>
                <a:latin typeface="Arial"/>
              </a:rPr>
              <a:t>Derived hour, day-of-week,</a:t>
            </a:r>
          </a:p>
          <a:p>
            <a:pPr algn="ctr"/>
            <a:r>
              <a:rPr sz="1100" b="0">
                <a:solidFill>
                  <a:srgbClr val="1B1B1B"/>
                </a:solidFill>
                <a:latin typeface="Arial"/>
              </a:rPr>
              <a:t>time bucket, age group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0147" y="1737360"/>
            <a:ext cx="2602153" cy="3017520"/>
          </a:xfrm>
          <a:prstGeom prst="roundRect">
            <a:avLst>
              <a:gd name="adj" fmla="val 8000"/>
            </a:avLst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45463" y="2011679"/>
            <a:ext cx="731520" cy="73152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5463" y="210312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E6B325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0147" y="2880360"/>
            <a:ext cx="260215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B2545"/>
                </a:solidFill>
                <a:latin typeface="Arial"/>
              </a:rPr>
              <a:t>ANALYZE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8747" y="3291839"/>
            <a:ext cx="2144953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B1B1B"/>
                </a:solidFill>
                <a:latin typeface="Arial"/>
              </a:rPr>
              <a:t>Aggregated by channel,</a:t>
            </a:r>
          </a:p>
          <a:p>
            <a:pPr algn="ctr"/>
            <a:r>
              <a:rPr sz="1100" b="0">
                <a:solidFill>
                  <a:srgbClr val="1B1B1B"/>
                </a:solidFill>
                <a:latin typeface="Arial"/>
              </a:rPr>
              <a:t>time, demographics</a:t>
            </a:r>
          </a:p>
          <a:p>
            <a:pPr algn="ctr"/>
            <a:r>
              <a:rPr sz="1100" b="0">
                <a:solidFill>
                  <a:srgbClr val="1B1B1B"/>
                </a:solidFill>
                <a:latin typeface="Arial"/>
              </a:rPr>
              <a:t>using Python / pandas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40901" y="1737360"/>
            <a:ext cx="2602153" cy="3017520"/>
          </a:xfrm>
          <a:prstGeom prst="roundRect">
            <a:avLst>
              <a:gd name="adj" fmla="val 8000"/>
            </a:avLst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976217" y="2011679"/>
            <a:ext cx="731520" cy="73152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76217" y="210312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E6B325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0901" y="2880360"/>
            <a:ext cx="260215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B2545"/>
                </a:solidFill>
                <a:latin typeface="Arial"/>
              </a:rPr>
              <a:t>VISUALIZE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9501" y="3291839"/>
            <a:ext cx="2144953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B1B1B"/>
                </a:solidFill>
                <a:latin typeface="Arial"/>
              </a:rPr>
              <a:t>Built charts and KPI cards</a:t>
            </a:r>
          </a:p>
          <a:p>
            <a:pPr algn="ctr"/>
            <a:r>
              <a:rPr sz="1100" b="0">
                <a:solidFill>
                  <a:srgbClr val="1B1B1B"/>
                </a:solidFill>
                <a:latin typeface="Arial"/>
              </a:rPr>
              <a:t>to surface patterns and</a:t>
            </a:r>
          </a:p>
          <a:p>
            <a:pPr algn="ctr"/>
            <a:r>
              <a:rPr sz="1100" b="0">
                <a:solidFill>
                  <a:srgbClr val="1B1B1B"/>
                </a:solidFill>
                <a:latin typeface="Arial"/>
              </a:rPr>
              <a:t>opportunities for the CEO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12064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257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B325"/>
                </a:solidFill>
                <a:latin typeface="Arial"/>
              </a:rPr>
              <a:t>DATA QUALITY NOTE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5321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All 10,000 viewing sessions matched to a user profile (100% join rate). The dataset spans Q1 2016 (Jan–Mar). Gender skew (90% male) likely reflects the sport-heavy programming mix and should inform — not bias — interpretation.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Arial"/>
              </a:rPr>
              <a:t>BrightTV Analytics  •  Audience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Arial"/>
              </a:rPr>
              <a:t>5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B325"/>
                </a:solidFill>
                <a:latin typeface="Arial"/>
              </a:rPr>
              <a:t>03  •  AUDIENCE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9552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B2545"/>
                </a:solidFill>
                <a:latin typeface="Arial"/>
              </a:rPr>
              <a:t>Age and gender breakdown</a:t>
            </a:r>
          </a:p>
        </p:txBody>
      </p:sp>
      <p:pic>
        <p:nvPicPr>
          <p:cNvPr id="8" name="Picture 7" descr="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7315200" cy="3609817"/>
          </a:xfrm>
          <a:prstGeom prst="rect">
            <a:avLst/>
          </a:prstGeom>
        </p:spPr>
      </p:pic>
      <p:pic>
        <p:nvPicPr>
          <p:cNvPr id="9" name="Picture 8" descr="gen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554480"/>
            <a:ext cx="4023360" cy="437653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486400"/>
            <a:ext cx="91440" cy="777240"/>
          </a:xfrm>
          <a:prstGeom prst="rect">
            <a:avLst/>
          </a:prstGeom>
          <a:solidFill>
            <a:srgbClr val="E6B3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778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B325"/>
                </a:solidFill>
                <a:latin typeface="Arial"/>
              </a:rPr>
              <a:t>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521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1B1B"/>
                </a:solidFill>
                <a:latin typeface="Arial"/>
              </a:rPr>
              <a:t>Adults 25–34 are the core audience (41.5%). The 90% male skew is the single biggest opportunity to diversify reach.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Arial"/>
              </a:rPr>
              <a:t>BrightTV Analytics  •  Audience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Arial"/>
              </a:rPr>
              <a:t>6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B325"/>
                </a:solidFill>
                <a:latin typeface="Arial"/>
              </a:rPr>
              <a:t>03  •  AUDIENCE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9552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B2545"/>
                </a:solidFill>
                <a:latin typeface="Arial"/>
              </a:rPr>
              <a:t>Geographic &amp; demographic distribution</a:t>
            </a:r>
          </a:p>
        </p:txBody>
      </p:sp>
      <p:pic>
        <p:nvPicPr>
          <p:cNvPr id="8" name="Picture 7" descr="provi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6858000" cy="3734796"/>
          </a:xfrm>
          <a:prstGeom prst="rect">
            <a:avLst/>
          </a:prstGeom>
        </p:spPr>
      </p:pic>
      <p:pic>
        <p:nvPicPr>
          <p:cNvPr id="9" name="Picture 8" descr="r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554480"/>
            <a:ext cx="4572000" cy="225278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486400"/>
            <a:ext cx="91440" cy="777240"/>
          </a:xfrm>
          <a:prstGeom prst="rect">
            <a:avLst/>
          </a:prstGeom>
          <a:solidFill>
            <a:srgbClr val="E6B3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778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B325"/>
                </a:solidFill>
                <a:latin typeface="Arial"/>
              </a:rPr>
              <a:t>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521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1B1B"/>
                </a:solidFill>
                <a:latin typeface="Arial"/>
              </a:rPr>
              <a:t>Gauteng + Western Cape = 56% of viewership. Six provinces are under-served — a clear regional growth target.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Arial"/>
              </a:rPr>
              <a:t>BrightTV Analytics  •  When People Watch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Arial"/>
              </a:rPr>
              <a:t>7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B325"/>
                </a:solidFill>
                <a:latin typeface="Arial"/>
              </a:rPr>
              <a:t>04  •  WHEN PEOPLE WATCH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9552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B2545"/>
                </a:solidFill>
                <a:latin typeface="Arial"/>
              </a:rPr>
              <a:t>Hourly viewership pattern</a:t>
            </a:r>
          </a:p>
        </p:txBody>
      </p:sp>
      <p:pic>
        <p:nvPicPr>
          <p:cNvPr id="8" name="Picture 7" descr="hour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11247120" cy="452798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557784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91440" cy="777240"/>
          </a:xfrm>
          <a:prstGeom prst="rect">
            <a:avLst/>
          </a:prstGeom>
          <a:solidFill>
            <a:srgbClr val="E6B3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6692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B325"/>
                </a:solidFill>
                <a:latin typeface="Arial"/>
              </a:rPr>
              <a:t>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9436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1B1B"/>
                </a:solidFill>
                <a:latin typeface="Arial"/>
              </a:rPr>
              <a:t>Viewing peaks at 15:00 with sustained activity from late morning through afternoon — atypical for traditional TV.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Arial"/>
              </a:rPr>
              <a:t>BrightTV Analytics  •  When People Watch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Arial"/>
              </a:rPr>
              <a:t>8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B325"/>
                </a:solidFill>
                <a:latin typeface="Arial"/>
              </a:rPr>
              <a:t>04  •  WHEN PEOPLE WATCH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9552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B2545"/>
                </a:solidFill>
                <a:latin typeface="Arial"/>
              </a:rPr>
              <a:t>Time of day and day of week</a:t>
            </a:r>
          </a:p>
        </p:txBody>
      </p:sp>
      <p:pic>
        <p:nvPicPr>
          <p:cNvPr id="8" name="Picture 7" descr="time_buck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5943600" cy="2932976"/>
          </a:xfrm>
          <a:prstGeom prst="rect">
            <a:avLst/>
          </a:prstGeom>
        </p:spPr>
      </p:pic>
      <p:pic>
        <p:nvPicPr>
          <p:cNvPr id="9" name="Picture 8" descr="d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63040"/>
            <a:ext cx="5486400" cy="243043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486400"/>
            <a:ext cx="91440" cy="777240"/>
          </a:xfrm>
          <a:prstGeom prst="rect">
            <a:avLst/>
          </a:prstGeom>
          <a:solidFill>
            <a:srgbClr val="E6B3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778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B325"/>
                </a:solidFill>
                <a:latin typeface="Arial"/>
              </a:rPr>
              <a:t>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521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1B1B"/>
                </a:solidFill>
                <a:latin typeface="Arial"/>
              </a:rPr>
              <a:t>Saturdays drive the most views (1,655). Weekday viewership grows through the week, dipping on Mondays.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Arial"/>
              </a:rPr>
              <a:t>BrightTV Analytics  •  Growth Trajectory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Arial"/>
              </a:rPr>
              <a:t>9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B325"/>
                </a:solidFill>
                <a:latin typeface="Arial"/>
              </a:rPr>
              <a:t>04  •  WHEN PEOPLE WATCH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9552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B2545"/>
                </a:solidFill>
                <a:latin typeface="Arial"/>
              </a:rPr>
              <a:t>Monthly growth — strong upward trend</a:t>
            </a:r>
          </a:p>
        </p:txBody>
      </p:sp>
      <p:pic>
        <p:nvPicPr>
          <p:cNvPr id="8" name="Picture 7" descr="month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554480"/>
            <a:ext cx="6400800" cy="35528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0" y="16459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B325"/>
                </a:solidFill>
                <a:latin typeface="Arial"/>
              </a:rPr>
              <a:t>Q1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01168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0B2545"/>
                </a:solidFill>
                <a:latin typeface="Arial"/>
              </a:rPr>
              <a:t>+119%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74320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Arial"/>
              </a:rPr>
              <a:t>January → March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3383280"/>
            <a:ext cx="1828800" cy="38100"/>
          </a:xfrm>
          <a:prstGeom prst="rect">
            <a:avLst/>
          </a:prstGeom>
          <a:solidFill>
            <a:srgbClr val="E6B3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35204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B325"/>
                </a:solidFill>
                <a:latin typeface="Arial"/>
              </a:rPr>
              <a:t>PEAK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84048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2545"/>
                </a:solidFill>
                <a:latin typeface="Arial"/>
              </a:rPr>
              <a:t>March 2016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2976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Arial"/>
              </a:rPr>
              <a:t>4,821 views (48% of Q1)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57784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577840"/>
            <a:ext cx="91440" cy="777240"/>
          </a:xfrm>
          <a:prstGeom prst="rect">
            <a:avLst/>
          </a:prstGeom>
          <a:solidFill>
            <a:srgbClr val="E6B3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6692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B325"/>
                </a:solidFill>
                <a:latin typeface="Arial"/>
              </a:rPr>
              <a:t>INSIGHT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9436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1B1B"/>
                </a:solidFill>
                <a:latin typeface="Arial"/>
              </a:rPr>
              <a:t>Growth coincides with the ICC Cricket World Cup period — major sporting events are a primary acquisition driver.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Arial"/>
              </a:rPr>
              <a:t>BrightTV Analytics  •  Channel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Arial"/>
              </a:rPr>
              <a:t>10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B325"/>
                </a:solidFill>
                <a:latin typeface="Arial"/>
              </a:rPr>
              <a:t>05  •  CHANNEL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9552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B2545"/>
                </a:solidFill>
                <a:latin typeface="Arial"/>
              </a:rPr>
              <a:t>Top 10 channels — sport leads the pack</a:t>
            </a:r>
          </a:p>
        </p:txBody>
      </p:sp>
      <p:pic>
        <p:nvPicPr>
          <p:cNvPr id="8" name="Picture 7" descr="top_chan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772400" cy="422774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686800" y="1645920"/>
            <a:ext cx="3017520" cy="3657600"/>
          </a:xfrm>
          <a:prstGeom prst="roundRect">
            <a:avLst>
              <a:gd name="adj" fmla="val 8000"/>
            </a:avLst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15400" y="18288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B325"/>
                </a:solidFill>
                <a:latin typeface="Arial"/>
              </a:rPr>
              <a:t>#1 CHANNEL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210312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2545"/>
                </a:solidFill>
                <a:latin typeface="Arial"/>
              </a:rPr>
              <a:t>Supersport</a:t>
            </a:r>
          </a:p>
          <a:p>
            <a:pPr algn="l"/>
            <a:r>
              <a:rPr sz="1800" b="1">
                <a:solidFill>
                  <a:srgbClr val="0B2545"/>
                </a:solidFill>
                <a:latin typeface="Arial"/>
              </a:rPr>
              <a:t>Live Events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31089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B2545"/>
                </a:solidFill>
                <a:latin typeface="Arial"/>
              </a:rPr>
              <a:t>1,638 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3520439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Arial"/>
              </a:rPr>
              <a:t>16.4% of all viewing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15400" y="4023360"/>
            <a:ext cx="1371600" cy="38100"/>
          </a:xfrm>
          <a:prstGeom prst="rect">
            <a:avLst/>
          </a:prstGeom>
          <a:solidFill>
            <a:srgbClr val="E6B3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41605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B325"/>
                </a:solidFill>
                <a:latin typeface="Arial"/>
              </a:rPr>
              <a:t>SPORT 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443484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B2545"/>
                </a:solidFill>
                <a:latin typeface="Arial"/>
              </a:rPr>
              <a:t>41.2%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48920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Arial"/>
              </a:rPr>
              <a:t>of all viewing 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Arial"/>
              </a:rPr>
              <a:t>BrightTV Analytics  •  Channel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Arial"/>
              </a:rPr>
              <a:t>11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B325"/>
                </a:solidFill>
                <a:latin typeface="Arial"/>
              </a:rPr>
              <a:t>05  •  CHANNEL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9552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B2545"/>
                </a:solidFill>
                <a:latin typeface="Arial"/>
              </a:rPr>
              <a:t>Underperforming channels — long tail risk</a:t>
            </a:r>
          </a:p>
        </p:txBody>
      </p:sp>
      <p:pic>
        <p:nvPicPr>
          <p:cNvPr id="8" name="Picture 7" descr="underper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772400" cy="383999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686800" y="1645920"/>
            <a:ext cx="3017520" cy="3657600"/>
          </a:xfrm>
          <a:prstGeom prst="roundRect">
            <a:avLst>
              <a:gd name="adj" fmla="val 8000"/>
            </a:avLst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15400" y="18288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76F51"/>
                </a:solidFill>
                <a:latin typeface="Arial"/>
              </a:rPr>
              <a:t>LONG 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214884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2545"/>
                </a:solidFill>
                <a:latin typeface="Arial"/>
              </a:rPr>
              <a:t>8 channels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26974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Arial"/>
              </a:rPr>
              <a:t>&lt;120 views each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15400" y="3200400"/>
            <a:ext cx="1371600" cy="381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33375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76F51"/>
                </a:solidFill>
                <a:latin typeface="Arial"/>
              </a:rPr>
              <a:t>COMBINED SHARE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361188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B2545"/>
                </a:solidFill>
                <a:latin typeface="Arial"/>
              </a:rPr>
              <a:t>~5%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4069080"/>
            <a:ext cx="2651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B1B"/>
                </a:solidFill>
                <a:latin typeface="Arial"/>
              </a:rPr>
              <a:t>These channels consume</a:t>
            </a:r>
          </a:p>
          <a:p>
            <a:pPr algn="l"/>
            <a:r>
              <a:rPr sz="1100" b="0">
                <a:solidFill>
                  <a:srgbClr val="1B1B1B"/>
                </a:solidFill>
                <a:latin typeface="Arial"/>
              </a:rPr>
              <a:t>bandwidth and licensing</a:t>
            </a:r>
          </a:p>
          <a:p>
            <a:pPr algn="l"/>
            <a:r>
              <a:rPr sz="1100" b="0">
                <a:solidFill>
                  <a:srgbClr val="1B1B1B"/>
                </a:solidFill>
                <a:latin typeface="Arial"/>
              </a:rPr>
              <a:t>budget without driving</a:t>
            </a:r>
          </a:p>
          <a:p>
            <a:pPr algn="l"/>
            <a:r>
              <a:rPr sz="1100" b="0">
                <a:solidFill>
                  <a:srgbClr val="1B1B1B"/>
                </a:solidFill>
                <a:latin typeface="Arial"/>
              </a:rPr>
              <a:t>meaningful viewership.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57784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577840"/>
            <a:ext cx="91440" cy="77724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6692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76F51"/>
                </a:solidFill>
                <a:latin typeface="Arial"/>
              </a:rPr>
              <a:t>OPPORTUNITY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9436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1B1B"/>
                </a:solidFill>
                <a:latin typeface="Arial"/>
              </a:rPr>
              <a:t>Re-evaluate or replace bottom channels — reinvest spend into top performers and audience-diversification content.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B3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B325"/>
                </a:solidFill>
                <a:latin typeface="Arial"/>
              </a:rPr>
              <a:t>PART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Arial"/>
              </a:rPr>
              <a:t>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4F1ED"/>
                </a:solidFill>
                <a:latin typeface="Arial"/>
              </a:rPr>
              <a:t>Five strategic moves to grow viewership in the next two quarters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Arial"/>
              </a:rPr>
              <a:t>BrightTV Analytics  • 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Arial"/>
              </a:rPr>
              <a:t>13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B325"/>
                </a:solidFill>
                <a:latin typeface="Arial"/>
              </a:rPr>
              <a:t>06  •  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9552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B2545"/>
                </a:solidFill>
                <a:latin typeface="Arial"/>
              </a:rPr>
              <a:t>Five strategic priorities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64792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E6B325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64207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2545"/>
                </a:solidFill>
                <a:latin typeface="Arial"/>
              </a:rPr>
              <a:t>DOUBLE DOWN ON SPORT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965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B1B"/>
                </a:solidFill>
                <a:latin typeface="Arial"/>
              </a:rPr>
              <a:t>Secure rights to more live sport events. They drove the +119% Q1 surge and command 41% of viewing.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1460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2697480"/>
            <a:ext cx="502920" cy="50292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724912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E6B325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6243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2545"/>
                </a:solidFill>
                <a:latin typeface="Arial"/>
              </a:rPr>
              <a:t>DIVERSIFY THE AUDIENCE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926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B1B"/>
                </a:solidFill>
                <a:latin typeface="Arial"/>
              </a:rPr>
              <a:t>Female viewers are only 10%. Commission lifestyle, drama, and reality content to broaden appeal.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47472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685032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E6B325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5844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2545"/>
                </a:solidFill>
                <a:latin typeface="Arial"/>
              </a:rPr>
              <a:t>GO REGIONAL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886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B1B"/>
                </a:solidFill>
                <a:latin typeface="Arial"/>
              </a:rPr>
              <a:t>Six provinces under-index. Localise marketing campaigns for KZN, Mpumalanga, Limpopo and Eastern Cape.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3484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77240" y="4617720"/>
            <a:ext cx="502920" cy="50292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645152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E6B325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54456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2545"/>
                </a:solidFill>
                <a:latin typeface="Arial"/>
              </a:rPr>
              <a:t>DAYTIME PROGRAMMING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8463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B1B"/>
                </a:solidFill>
                <a:latin typeface="Arial"/>
              </a:rPr>
              <a:t>Mornings and afternoons drive 65% of views. Strengthen daytime line-up rather than only prime-time.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394959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7240" y="5577840"/>
            <a:ext cx="502920" cy="50292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605272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E6B325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50468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2545"/>
                </a:solidFill>
                <a:latin typeface="Arial"/>
              </a:rPr>
              <a:t>TRIM THE LONG TAIL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5806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B1B"/>
                </a:solidFill>
                <a:latin typeface="Arial"/>
              </a:rPr>
              <a:t>Drop or renegotiate 8 channels with &lt;120 views and reinvest in top-10 channel quality.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Arial"/>
              </a:rPr>
              <a:t>BrightTV Analytics  •  Prioritization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Arial"/>
              </a:rPr>
              <a:t>14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B325"/>
                </a:solidFill>
                <a:latin typeface="Arial"/>
              </a:rPr>
              <a:t>06  •  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9552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B2545"/>
                </a:solidFill>
                <a:latin typeface="Arial"/>
              </a:rPr>
              <a:t>Impact vs effort — where to start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11064240" cy="4114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1907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Initiative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71907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71907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Effort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71907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Timeline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60" y="171907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Priority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057400"/>
            <a:ext cx="11064240" cy="457200"/>
          </a:xfrm>
          <a:prstGeom prst="rect">
            <a:avLst/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17627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B1B"/>
                </a:solidFill>
                <a:latin typeface="Arial"/>
              </a:rPr>
              <a:t>Double down on sport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17627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A9D8F"/>
                </a:solidFill>
                <a:latin typeface="Arial"/>
              </a:rPr>
              <a:t>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7627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B1B"/>
                </a:solidFill>
                <a:latin typeface="Arial"/>
              </a:rPr>
              <a:t>Medium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17627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B1B"/>
                </a:solidFill>
                <a:latin typeface="Arial"/>
              </a:rPr>
              <a:t>0-3 months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60" y="217627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2545"/>
                </a:solidFill>
                <a:latin typeface="Arial"/>
              </a:rPr>
              <a:t>P0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514600"/>
            <a:ext cx="11064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63347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B1B"/>
                </a:solidFill>
                <a:latin typeface="Arial"/>
              </a:rPr>
              <a:t>Trim long-tail channels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263347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B325"/>
                </a:solidFill>
                <a:latin typeface="Arial"/>
              </a:rPr>
              <a:t>Medium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63347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B1B"/>
                </a:solidFill>
                <a:latin typeface="Arial"/>
              </a:rPr>
              <a:t>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63347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B1B"/>
                </a:solidFill>
                <a:latin typeface="Arial"/>
              </a:rPr>
              <a:t>0-3 months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60" y="263347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2545"/>
                </a:solidFill>
                <a:latin typeface="Arial"/>
              </a:rPr>
              <a:t>P0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971800"/>
            <a:ext cx="11064240" cy="457200"/>
          </a:xfrm>
          <a:prstGeom prst="rect">
            <a:avLst/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09067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B1B"/>
                </a:solidFill>
                <a:latin typeface="Arial"/>
              </a:rPr>
              <a:t>Strengthen daytime line-up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309067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A9D8F"/>
                </a:solidFill>
                <a:latin typeface="Arial"/>
              </a:rPr>
              <a:t>High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09067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B1B"/>
                </a:solidFill>
                <a:latin typeface="Arial"/>
              </a:rPr>
              <a:t>Medium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309067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B1B"/>
                </a:solidFill>
                <a:latin typeface="Arial"/>
              </a:rPr>
              <a:t>3-6 months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309067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B325"/>
                </a:solidFill>
                <a:latin typeface="Arial"/>
              </a:rPr>
              <a:t>P1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429000"/>
            <a:ext cx="11064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354787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B1B"/>
                </a:solidFill>
                <a:latin typeface="Arial"/>
              </a:rPr>
              <a:t>Diversify audience content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354787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A9D8F"/>
                </a:solidFill>
                <a:latin typeface="Arial"/>
              </a:rPr>
              <a:t>High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54787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B1B"/>
                </a:solidFill>
                <a:latin typeface="Arial"/>
              </a:rPr>
              <a:t>High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354787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B1B"/>
                </a:solidFill>
                <a:latin typeface="Arial"/>
              </a:rPr>
              <a:t>3-9 months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8360" y="354787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B325"/>
                </a:solidFill>
                <a:latin typeface="Arial"/>
              </a:rPr>
              <a:t>P1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886200"/>
            <a:ext cx="11064240" cy="457200"/>
          </a:xfrm>
          <a:prstGeom prst="rect">
            <a:avLst/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400507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B1B"/>
                </a:solidFill>
                <a:latin typeface="Arial"/>
              </a:rPr>
              <a:t>Regional marketing campaigns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00600" y="400507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B325"/>
                </a:solidFill>
                <a:latin typeface="Arial"/>
              </a:rPr>
              <a:t>Medium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00507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B1B"/>
                </a:solidFill>
                <a:latin typeface="Arial"/>
              </a:rPr>
              <a:t>Medium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92440" y="400507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B1B"/>
                </a:solidFill>
                <a:latin typeface="Arial"/>
              </a:rPr>
              <a:t>3-6 months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38360" y="400507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P2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4617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Arial"/>
              </a:rPr>
              <a:t>P0 = ship this quarter   •   P1 = next two quarters   •   P2 = within the year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Arial"/>
              </a:rPr>
              <a:t>BrightTV Analytics  • 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Arial"/>
              </a:rPr>
              <a:t>15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B325"/>
                </a:solidFill>
                <a:latin typeface="Arial"/>
              </a:rPr>
              <a:t>07  • 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9552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B2545"/>
                </a:solidFill>
                <a:latin typeface="Arial"/>
              </a:rPr>
              <a:t>From insight to 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1463040" cy="50292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6479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E6B325"/>
                </a:solidFill>
                <a:latin typeface="Arial"/>
              </a:rPr>
              <a:t>THIS 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64592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Arial"/>
              </a:rPr>
              <a:t>Approve recommendations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96596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B1B"/>
                </a:solidFill>
                <a:latin typeface="Arial"/>
              </a:rPr>
              <a:t>CEO + leadership team align on P0 initiatives and budget envelope.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06040"/>
            <a:ext cx="1463040" cy="50292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2491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E6B325"/>
                </a:solidFill>
                <a:latin typeface="Arial"/>
              </a:rPr>
              <a:t>30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60604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Arial"/>
              </a:rPr>
              <a:t>Operationalise reporting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92608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B1B"/>
                </a:solidFill>
                <a:latin typeface="Arial"/>
              </a:rPr>
              <a:t>Automate daily viewership dashboards; define KPIs and channel scorecard.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66160"/>
            <a:ext cx="1463040" cy="50292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6850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E6B325"/>
                </a:solidFill>
                <a:latin typeface="Arial"/>
              </a:rPr>
              <a:t>60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56616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Arial"/>
              </a:rPr>
              <a:t>Launch sport rights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88620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B1B"/>
                </a:solidFill>
                <a:latin typeface="Arial"/>
              </a:rPr>
              <a:t>Identify additional live sport opportunities for Q3/Q4 acquisition.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526280"/>
            <a:ext cx="1463040" cy="50292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6451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E6B325"/>
                </a:solidFill>
                <a:latin typeface="Arial"/>
              </a:rPr>
              <a:t>90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452628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Arial"/>
              </a:rPr>
              <a:t>Pilot diversification content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48463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B1B"/>
                </a:solidFill>
                <a:latin typeface="Arial"/>
              </a:rPr>
              <a:t>Commission 2–3 lifestyle/drama pilots targeting female 25–34 segment.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48640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623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B325"/>
                </a:solidFill>
                <a:latin typeface="Arial"/>
              </a:rPr>
              <a:t>BEYOND Q3 — STRATEGIC TRACK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97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Loyalty programme tied to peak time slots  •  Multi-region rollout tracking  •  Personalised content recommendations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B3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Arial"/>
              </a:rPr>
              <a:t>Thank you.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383280"/>
            <a:ext cx="2286000" cy="38100"/>
          </a:xfrm>
          <a:prstGeom prst="rect">
            <a:avLst/>
          </a:prstGeom>
          <a:solidFill>
            <a:srgbClr val="E6B3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118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4F1ED"/>
                </a:solidFill>
                <a:latin typeface="Arial"/>
              </a:rPr>
              <a:t>Questions and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B325"/>
                </a:solidFill>
                <a:latin typeface="Arial"/>
              </a:rPr>
              <a:t>BrightTV Analytics  •  Q1 2016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492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4F1ED"/>
                </a:solidFill>
                <a:latin typeface="Arial"/>
              </a:rPr>
              <a:t>Prepared by the Data Analytics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